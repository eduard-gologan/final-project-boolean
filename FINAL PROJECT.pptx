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4" r:id="rId8"/>
    <p:sldId id="262" r:id="rId9"/>
    <p:sldId id="265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34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07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1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11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175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65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02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127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97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935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7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747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1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57D6000-11F4-48A5-805D-0566F4FB32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1640" b="22110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E6C0D2-722F-40D2-935C-EBE6CC3BF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it-IT" sz="5400" dirty="0">
                <a:solidFill>
                  <a:srgbClr val="FFFFFF"/>
                </a:solidFill>
              </a:rPr>
              <a:t>FINAL PROJECT 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246E8F9-9279-4A2A-A54F-16D56DE6F0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Autofit/>
          </a:bodyPr>
          <a:lstStyle/>
          <a:p>
            <a:r>
              <a:rPr lang="it-IT" sz="4400" dirty="0">
                <a:solidFill>
                  <a:srgbClr val="FFFFFF"/>
                </a:solidFill>
              </a:rPr>
              <a:t>E-commerce Business Analysis</a:t>
            </a:r>
          </a:p>
        </p:txBody>
      </p:sp>
    </p:spTree>
    <p:extLst>
      <p:ext uri="{BB962C8B-B14F-4D97-AF65-F5344CB8AC3E}">
        <p14:creationId xmlns:p14="http://schemas.microsoft.com/office/powerpoint/2010/main" val="3309380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4">
            <a:extLst>
              <a:ext uri="{FF2B5EF4-FFF2-40B4-BE49-F238E27FC236}">
                <a16:creationId xmlns:a16="http://schemas.microsoft.com/office/drawing/2014/main" id="{4D867C6C-C426-3E30-5446-52685E13AF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4509D173-D439-41D3-BA83-3ACAFC9A7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431" y="1538242"/>
            <a:ext cx="3710319" cy="17842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3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Pulizia dei dati, normalizzazione e ordinamento</a:t>
            </a:r>
          </a:p>
        </p:txBody>
      </p:sp>
      <p:pic>
        <p:nvPicPr>
          <p:cNvPr id="13" name="Segnaposto contenuto 12" descr="Immagine che contiene clipart, simbolo, Elementi grafici, cartone animato&#10;&#10;Il contenuto generato dall'IA potrebbe non essere corretto.">
            <a:extLst>
              <a:ext uri="{FF2B5EF4-FFF2-40B4-BE49-F238E27FC236}">
                <a16:creationId xmlns:a16="http://schemas.microsoft.com/office/drawing/2014/main" id="{8E4CDE59-C086-4F63-AEE1-A3EE5A84D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0725" y="3429000"/>
            <a:ext cx="2417024" cy="2407620"/>
          </a:xfrm>
          <a:prstGeom prst="rect">
            <a:avLst/>
          </a:prstGeom>
        </p:spPr>
      </p:pic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DB08B5F4-3D1E-4B90-8242-B75408C70D3F}"/>
              </a:ext>
            </a:extLst>
          </p:cNvPr>
          <p:cNvSpPr txBox="1"/>
          <p:nvPr/>
        </p:nvSpPr>
        <p:spPr>
          <a:xfrm>
            <a:off x="5455921" y="1513360"/>
            <a:ext cx="5111438" cy="453451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Source of data: </a:t>
            </a:r>
            <a:r>
              <a:rPr lang="en-US" b="1" i="0" u="none" strike="noStrike" dirty="0">
                <a:effectLst/>
              </a:rPr>
              <a:t>bigquery-public-data.thelook_ecommerce.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L’utilizzo di Python ci è stato </a:t>
            </a:r>
            <a:r>
              <a:rPr lang="it-IT" dirty="0"/>
              <a:t>fondamentale</a:t>
            </a:r>
            <a:r>
              <a:rPr lang="en-US" dirty="0"/>
              <a:t> per: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Importare </a:t>
            </a:r>
            <a:r>
              <a:rPr lang="en-US" dirty="0" err="1"/>
              <a:t>i</a:t>
            </a:r>
            <a:r>
              <a:rPr lang="en-US" dirty="0"/>
              <a:t> file csv </a:t>
            </a:r>
            <a:r>
              <a:rPr lang="en-US" dirty="0" err="1"/>
              <a:t>contenenti</a:t>
            </a:r>
            <a:r>
              <a:rPr lang="en-US" dirty="0"/>
              <a:t> le informazioni estratte;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Pulire il dataset dai dati NaN e duplicati;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Ordinarli in </a:t>
            </a:r>
            <a:r>
              <a:rPr lang="it-IT" dirty="0"/>
              <a:t>base</a:t>
            </a:r>
            <a:r>
              <a:rPr lang="en-US" dirty="0"/>
              <a:t> a una variabile quantitativa;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dirty="0"/>
              <a:t>Reimpostare i loro indici;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it-IT" noProof="1"/>
              <a:t>Salvarli e importarli su Tableau;</a:t>
            </a:r>
          </a:p>
          <a:p>
            <a:pPr marL="285750"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19299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1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DB08810-D009-460D-B22C-CCC7DB54D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anchor="t">
            <a:normAutofit/>
          </a:bodyPr>
          <a:lstStyle/>
          <a:p>
            <a:r>
              <a:rPr lang="it-IT" dirty="0"/>
              <a:t>Traffico Utenti fedeli</a:t>
            </a:r>
          </a:p>
        </p:txBody>
      </p:sp>
      <p:pic>
        <p:nvPicPr>
          <p:cNvPr id="5" name="Segnaposto contenuto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E4FAA363-C70D-4B3A-9167-59E503D895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106" y="1114425"/>
            <a:ext cx="6113926" cy="5048250"/>
          </a:xfrm>
          <a:prstGeom prst="rect">
            <a:avLst/>
          </a:prstGeom>
        </p:spPr>
      </p:pic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B7037D1A-9DCA-4733-E4A7-899C79770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9367" y="1187742"/>
            <a:ext cx="4307527" cy="4295164"/>
          </a:xfrm>
        </p:spPr>
        <p:txBody>
          <a:bodyPr anchor="t">
            <a:normAutofit/>
          </a:bodyPr>
          <a:lstStyle/>
          <a:p>
            <a:r>
              <a:rPr lang="it-IT" sz="1600" dirty="0">
                <a:effectLst/>
                <a:latin typeface="Segoe UI" panose="020B0502040204020203" pitchFamily="34" charset="0"/>
              </a:rPr>
              <a:t>Email è la principale sorgente di traffico degli utenti fedeli → alta efficacia nelle campagne personalizzate;</a:t>
            </a:r>
            <a:endParaRPr lang="it-IT" sz="1600" dirty="0">
              <a:latin typeface="Segoe UI" panose="020B0502040204020203" pitchFamily="34" charset="0"/>
            </a:endParaRPr>
          </a:p>
          <a:p>
            <a:r>
              <a:rPr lang="it-IT" sz="1600" dirty="0">
                <a:effectLst/>
                <a:latin typeface="Segoe UI" panose="020B0502040204020203" pitchFamily="34" charset="0"/>
              </a:rPr>
              <a:t>AdWords si conferma uno strumento utile per mantenere clienti abituali attivi;</a:t>
            </a:r>
          </a:p>
          <a:p>
            <a:r>
              <a:rPr lang="it-IT" sz="1600" dirty="0">
                <a:effectLst/>
                <a:latin typeface="Segoe UI" panose="020B0502040204020203" pitchFamily="34" charset="0"/>
              </a:rPr>
              <a:t>Bassa incidenza del traffico organico → opportunità di investimento in SEO;</a:t>
            </a:r>
            <a:endParaRPr lang="it-IT" sz="1600" dirty="0">
              <a:latin typeface="Segoe UI" panose="020B0502040204020203" pitchFamily="34" charset="0"/>
            </a:endParaRPr>
          </a:p>
          <a:p>
            <a:r>
              <a:rPr lang="it-IT" sz="1600" dirty="0">
                <a:effectLst/>
                <a:latin typeface="Segoe UI" panose="020B0502040204020203" pitchFamily="34" charset="0"/>
              </a:rPr>
              <a:t>YouTube e Facebook in posizione intermedia → potenziale da sfruttare meglio;</a:t>
            </a:r>
            <a:endParaRPr lang="it-IT" sz="1600" dirty="0">
              <a:latin typeface="Segoe UI" panose="020B0502040204020203" pitchFamily="34" charset="0"/>
            </a:endParaRPr>
          </a:p>
          <a:p>
            <a:r>
              <a:rPr lang="it-IT" sz="1600" dirty="0">
                <a:effectLst/>
                <a:latin typeface="Segoe UI" panose="020B0502040204020203" pitchFamily="34" charset="0"/>
              </a:rPr>
              <a:t> Le strategie di retention funzionano meglio con messaggi diretti e mirati.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06406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95EBB7BC-473C-4865-BE95-8DD8BA8FD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1688" y="548640"/>
            <a:ext cx="9656063" cy="1132258"/>
          </a:xfrm>
        </p:spPr>
        <p:txBody>
          <a:bodyPr>
            <a:normAutofit/>
          </a:bodyPr>
          <a:lstStyle/>
          <a:p>
            <a:r>
              <a:rPr lang="it-IT" dirty="0"/>
              <a:t>Paesi con più acquirenti</a:t>
            </a:r>
          </a:p>
        </p:txBody>
      </p:sp>
      <p:pic>
        <p:nvPicPr>
          <p:cNvPr id="5" name="Segnaposto contenuto 4" descr="Immagine che contiene testo, schermata, schermo, diagramma&#10;&#10;Il contenuto generato dall'IA potrebbe non essere corretto.">
            <a:extLst>
              <a:ext uri="{FF2B5EF4-FFF2-40B4-BE49-F238E27FC236}">
                <a16:creationId xmlns:a16="http://schemas.microsoft.com/office/drawing/2014/main" id="{A8404CBB-8EF7-4BB7-9121-027D2F745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257" b="-1"/>
          <a:stretch>
            <a:fillRect/>
          </a:stretch>
        </p:blipFill>
        <p:spPr>
          <a:xfrm>
            <a:off x="731520" y="1775012"/>
            <a:ext cx="6355080" cy="453434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606ABA4-BC10-A12A-B502-E59B72306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1146" y="2647467"/>
            <a:ext cx="3999334" cy="2595652"/>
          </a:xfrm>
        </p:spPr>
        <p:txBody>
          <a:bodyPr>
            <a:normAutofit lnSpcReduction="10000"/>
          </a:bodyPr>
          <a:lstStyle/>
          <a:p>
            <a:r>
              <a:rPr lang="it-IT" sz="1800" dirty="0">
                <a:effectLst/>
                <a:latin typeface="Segoe UI" panose="020B0502040204020203" pitchFamily="34" charset="0"/>
              </a:rPr>
              <a:t>Forte concentrazione in Cina e USA;</a:t>
            </a:r>
            <a:endParaRPr lang="it-IT" sz="1800" dirty="0">
              <a:latin typeface="Segoe UI" panose="020B0502040204020203" pitchFamily="34" charset="0"/>
            </a:endParaRPr>
          </a:p>
          <a:p>
            <a:r>
              <a:rPr lang="it-IT" sz="1800" dirty="0">
                <a:effectLst/>
                <a:latin typeface="Segoe UI" panose="020B0502040204020203" pitchFamily="34" charset="0"/>
              </a:rPr>
              <a:t>Presenza significativa in America Latina;</a:t>
            </a:r>
            <a:endParaRPr lang="it-IT" sz="1800" dirty="0">
              <a:latin typeface="Segoe UI" panose="020B0502040204020203" pitchFamily="34" charset="0"/>
            </a:endParaRPr>
          </a:p>
          <a:p>
            <a:r>
              <a:rPr lang="it-IT" sz="1800" dirty="0">
                <a:effectLst/>
                <a:latin typeface="Segoe UI" panose="020B0502040204020203" pitchFamily="34" charset="0"/>
              </a:rPr>
              <a:t>Opportunità nei paesi europei;</a:t>
            </a:r>
            <a:endParaRPr lang="it-IT" sz="1800" dirty="0">
              <a:latin typeface="Segoe UI" panose="020B0502040204020203" pitchFamily="34" charset="0"/>
            </a:endParaRPr>
          </a:p>
          <a:p>
            <a:r>
              <a:rPr lang="it-IT" sz="1800" dirty="0">
                <a:effectLst/>
                <a:latin typeface="Segoe UI" panose="020B0502040204020203" pitchFamily="34" charset="0"/>
              </a:rPr>
              <a:t>Nazioni asiatiche oltre la Cina;</a:t>
            </a:r>
            <a:br>
              <a:rPr lang="it-IT" sz="1800" dirty="0">
                <a:effectLst/>
                <a:latin typeface="Segoe UI" panose="020B0502040204020203" pitchFamily="34" charset="0"/>
              </a:rPr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74391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AB9B8B4-6AA0-6EC2-5180-35BA3CFC28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F9053D7A-86E4-4863-A2D8-C2760043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0" y="548640"/>
            <a:ext cx="10303762" cy="1132258"/>
          </a:xfrm>
        </p:spPr>
        <p:txBody>
          <a:bodyPr>
            <a:normAutofit/>
          </a:bodyPr>
          <a:lstStyle/>
          <a:p>
            <a:r>
              <a:rPr lang="it-IT" dirty="0"/>
              <a:t>Numero di Utenti per fascia d’età e genere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550D84D7-DFBC-4298-BF16-3486E0FC4C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763" b="2"/>
          <a:stretch>
            <a:fillRect/>
          </a:stretch>
        </p:blipFill>
        <p:spPr>
          <a:xfrm>
            <a:off x="731520" y="1775012"/>
            <a:ext cx="6355080" cy="453434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179BB96-0A31-9A9C-C5A4-9928ED7C3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5529" y="1775012"/>
            <a:ext cx="3999334" cy="453434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it-IT" sz="1700" dirty="0">
                <a:latin typeface="Segoe UI" panose="020B0502040204020203" pitchFamily="34" charset="0"/>
                <a:cs typeface="Segoe UI" panose="020B0502040204020203" pitchFamily="34" charset="0"/>
              </a:rPr>
              <a:t>La popolazione utenti è bilanciata tra uomini e donne in tutte le fasce</a:t>
            </a:r>
          </a:p>
          <a:p>
            <a:pPr>
              <a:lnSpc>
                <a:spcPct val="110000"/>
              </a:lnSpc>
            </a:pPr>
            <a:endParaRPr lang="it-IT" sz="1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10000"/>
              </a:lnSpc>
            </a:pPr>
            <a:r>
              <a:rPr lang="it-IT" sz="1700" dirty="0">
                <a:latin typeface="Segoe UI" panose="020B0502040204020203" pitchFamily="34" charset="0"/>
                <a:cs typeface="Segoe UI" panose="020B0502040204020203" pitchFamily="34" charset="0"/>
              </a:rPr>
              <a:t>La fascia 55+ è la più numerosa: oltre 35.000 utenti → potenziale spesso sottovalutato</a:t>
            </a:r>
          </a:p>
          <a:p>
            <a:pPr>
              <a:lnSpc>
                <a:spcPct val="110000"/>
              </a:lnSpc>
            </a:pPr>
            <a:endParaRPr lang="it-IT" sz="1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10000"/>
              </a:lnSpc>
            </a:pPr>
            <a:r>
              <a:rPr lang="it-IT" sz="1700" dirty="0">
                <a:latin typeface="Segoe UI" panose="020B0502040204020203" pitchFamily="34" charset="0"/>
                <a:cs typeface="Segoe UI" panose="020B0502040204020203" pitchFamily="34" charset="0"/>
              </a:rPr>
              <a:t>Importanza di adottare un approccio inclusivo anche per target più adulti</a:t>
            </a:r>
          </a:p>
          <a:p>
            <a:pPr>
              <a:lnSpc>
                <a:spcPct val="110000"/>
              </a:lnSpc>
            </a:pPr>
            <a:endParaRPr lang="it-IT" sz="17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lnSpc>
                <a:spcPct val="110000"/>
              </a:lnSpc>
            </a:pPr>
            <a:r>
              <a:rPr lang="it-IT" sz="1700" dirty="0">
                <a:latin typeface="Segoe UI" panose="020B0502040204020203" pitchFamily="34" charset="0"/>
                <a:cs typeface="Segoe UI" panose="020B0502040204020203" pitchFamily="34" charset="0"/>
              </a:rPr>
              <a:t>Ottima base per segmentazione marketing personalizzata per età</a:t>
            </a:r>
          </a:p>
          <a:p>
            <a:pPr>
              <a:lnSpc>
                <a:spcPct val="11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054637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3E4D88B-5D05-4BB7-BB79-668CCCBBC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846" y="548640"/>
            <a:ext cx="10455048" cy="1133856"/>
          </a:xfrm>
        </p:spPr>
        <p:txBody>
          <a:bodyPr anchor="t">
            <a:normAutofit/>
          </a:bodyPr>
          <a:lstStyle/>
          <a:p>
            <a:r>
              <a:rPr lang="it-IT" dirty="0"/>
              <a:t>Report ordini negli anni</a:t>
            </a:r>
          </a:p>
        </p:txBody>
      </p:sp>
      <p:pic>
        <p:nvPicPr>
          <p:cNvPr id="5" name="Segnaposto contenuto 4" descr="Immagine che contiene testo, schermata, Diagramma, linea&#10;&#10;Il contenuto generato dall'IA potrebbe non essere corretto.">
            <a:extLst>
              <a:ext uri="{FF2B5EF4-FFF2-40B4-BE49-F238E27FC236}">
                <a16:creationId xmlns:a16="http://schemas.microsoft.com/office/drawing/2014/main" id="{482263D0-9829-40E4-9C70-ABDF00F7E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792223"/>
            <a:ext cx="6113926" cy="336265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0FF031-AAB1-D84C-40BD-631BF309E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176" y="1792223"/>
            <a:ext cx="4307527" cy="4600187"/>
          </a:xfrm>
        </p:spPr>
        <p:txBody>
          <a:bodyPr anchor="t">
            <a:normAutofit/>
          </a:bodyPr>
          <a:lstStyle/>
          <a:p>
            <a:r>
              <a:rPr lang="it-IT" sz="1600" dirty="0">
                <a:effectLst/>
                <a:latin typeface="Segoe UI" panose="020B0502040204020203" pitchFamily="34" charset="0"/>
              </a:rPr>
              <a:t>Crescita netta del numero totale di ordini negli ultimi anni, specie dopo il 2023</a:t>
            </a:r>
            <a:endParaRPr lang="it-IT" sz="1600" dirty="0">
              <a:latin typeface="Segoe UI" panose="020B0502040204020203" pitchFamily="34" charset="0"/>
            </a:endParaRPr>
          </a:p>
          <a:p>
            <a:r>
              <a:rPr lang="it-IT" sz="1600" dirty="0">
                <a:effectLst/>
                <a:latin typeface="Segoe UI" panose="020B0502040204020203" pitchFamily="34" charset="0"/>
              </a:rPr>
              <a:t>Gli ordini “Shipped” e “Complete” sono i più numerosi → segnale positivo sulla logistica</a:t>
            </a:r>
            <a:endParaRPr lang="it-IT" sz="1600" dirty="0">
              <a:latin typeface="Segoe UI" panose="020B0502040204020203" pitchFamily="34" charset="0"/>
            </a:endParaRPr>
          </a:p>
          <a:p>
            <a:r>
              <a:rPr lang="it-IT" sz="1600" dirty="0">
                <a:effectLst/>
                <a:latin typeface="Segoe UI" panose="020B0502040204020203" pitchFamily="34" charset="0"/>
              </a:rPr>
              <a:t>Aumentano anche “Cancelled” e “Returned” → indicatore di attrito o problemi</a:t>
            </a:r>
            <a:endParaRPr lang="it-IT" sz="1600" dirty="0">
              <a:latin typeface="Segoe UI" panose="020B0502040204020203" pitchFamily="34" charset="0"/>
            </a:endParaRPr>
          </a:p>
          <a:p>
            <a:r>
              <a:rPr lang="it-IT" sz="1600" dirty="0">
                <a:latin typeface="Segoe UI" panose="020B0502040204020203" pitchFamily="34" charset="0"/>
              </a:rPr>
              <a:t>T</a:t>
            </a:r>
            <a:r>
              <a:rPr lang="it-IT" sz="1600" dirty="0">
                <a:effectLst/>
                <a:latin typeface="Segoe UI" panose="020B0502040204020203" pitchFamily="34" charset="0"/>
              </a:rPr>
              <a:t>rend di “Processing” stabile, ma da monitorare per evitare colli di bottiglia</a:t>
            </a:r>
            <a:endParaRPr lang="it-IT" sz="1600" dirty="0">
              <a:latin typeface="Segoe UI" panose="020B0502040204020203" pitchFamily="34" charset="0"/>
            </a:endParaRPr>
          </a:p>
          <a:p>
            <a:r>
              <a:rPr lang="it-IT" sz="1600" dirty="0">
                <a:effectLst/>
                <a:latin typeface="Segoe UI" panose="020B0502040204020203" pitchFamily="34" charset="0"/>
              </a:rPr>
              <a:t>Ottimo dataset per sviluppare analisi predittive e ottimizzazione della supply chain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1041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016FA66-B958-3A21-91DF-D3AF705EC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4360E0D-3C70-F475-60D1-17D42692E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43167" y="1097280"/>
            <a:ext cx="5687568" cy="165766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it-IT" sz="1600" dirty="0">
                <a:effectLst/>
                <a:latin typeface="Segoe UI" panose="020B0502040204020203" pitchFamily="34" charset="0"/>
              </a:rPr>
              <a:t>In tutte le categorie, lo stock supera le vendite → rischio di immobilizzo e costi</a:t>
            </a:r>
            <a:endParaRPr lang="it-IT" sz="1600" dirty="0">
              <a:latin typeface="Segoe UI" panose="020B0502040204020203" pitchFamily="34" charset="0"/>
            </a:endParaRPr>
          </a:p>
          <a:p>
            <a:r>
              <a:rPr lang="it-IT" sz="1600" dirty="0">
                <a:effectLst/>
                <a:latin typeface="Segoe UI" panose="020B0502040204020203" pitchFamily="34" charset="0"/>
              </a:rPr>
              <a:t>Le eccedenze maggiori sono in “Intimates”, “Jeans”, “Tops” → priorità per azioni correttive</a:t>
            </a:r>
            <a:endParaRPr lang="en-US" sz="1800" dirty="0"/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AD6DD0D4-172C-4E51-9B65-402BD1E7DA85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rcRect l="4379" r="2295" b="-3"/>
          <a:stretch>
            <a:fillRect/>
          </a:stretch>
        </p:blipFill>
        <p:spPr>
          <a:xfrm>
            <a:off x="6224631" y="2780725"/>
            <a:ext cx="5967370" cy="3685122"/>
          </a:xfrm>
          <a:prstGeom prst="rect">
            <a:avLst/>
          </a:prstGeom>
        </p:spPr>
      </p:pic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2F158C59-72A5-49B5-8B74-BD12C8CCDAF0}"/>
              </a:ext>
            </a:extLst>
          </p:cNvPr>
          <p:cNvSpPr txBox="1">
            <a:spLocks/>
          </p:cNvSpPr>
          <p:nvPr/>
        </p:nvSpPr>
        <p:spPr>
          <a:xfrm>
            <a:off x="355599" y="1097280"/>
            <a:ext cx="5687568" cy="16576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1600" dirty="0">
                <a:effectLst/>
                <a:latin typeface="Segoe UI" panose="020B0502040204020203" pitchFamily="34" charset="0"/>
              </a:rPr>
              <a:t>I prodotti più venduti appartengono al segmento abbigliamento/accessori uomo</a:t>
            </a:r>
            <a:endParaRPr lang="it-IT" sz="1600" dirty="0">
              <a:latin typeface="Segoe UI" panose="020B0502040204020203" pitchFamily="34" charset="0"/>
            </a:endParaRPr>
          </a:p>
          <a:p>
            <a:r>
              <a:rPr lang="it-IT" sz="1600" dirty="0">
                <a:effectLst/>
                <a:latin typeface="Segoe UI" panose="020B0502040204020203" pitchFamily="34" charset="0"/>
              </a:rPr>
              <a:t>Brand noti come Carhartt, Calvin Klein, Volcom, Ed Hardy dominano il podio</a:t>
            </a:r>
            <a:endParaRPr lang="en-US" sz="18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05E6A15-4C12-4CA5-8D22-462DA131A9C3}"/>
              </a:ext>
            </a:extLst>
          </p:cNvPr>
          <p:cNvSpPr txBox="1"/>
          <p:nvPr/>
        </p:nvSpPr>
        <p:spPr>
          <a:xfrm>
            <a:off x="545284" y="291351"/>
            <a:ext cx="11185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600" dirty="0"/>
              <a:t>Ricavi, stock e vendite per categoria</a:t>
            </a: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312716D9-E67B-4AC9-9F8E-11FD1A4C8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60" y="2754945"/>
            <a:ext cx="5571810" cy="37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8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5BF75-4178-40DD-9566-71797472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718098"/>
          </a:xfrm>
        </p:spPr>
        <p:txBody>
          <a:bodyPr/>
          <a:lstStyle/>
          <a:p>
            <a:r>
              <a:rPr lang="it-IT" dirty="0"/>
              <a:t>Strategie di crescita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A7DE72-FD2F-4953-B59F-0D5E94808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715531"/>
            <a:ext cx="11249386" cy="3863148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 Ottimizzare le pagine più visitate del sito per migliorare il tasso di conversione;</a:t>
            </a:r>
          </a:p>
          <a:p>
            <a:r>
              <a:rPr lang="it-IT" dirty="0"/>
              <a:t> Lanciare campagne promozionali per fidelizzare i clienti ricorrenti e attirare nuovi clienti con premi, offerte e contenuti personalizzati;</a:t>
            </a:r>
          </a:p>
          <a:p>
            <a:r>
              <a:rPr lang="it-IT" dirty="0"/>
              <a:t>Analizzare al meglio le fasce meno coinvolte e creare  una strategia per attirarli;</a:t>
            </a:r>
          </a:p>
          <a:p>
            <a:r>
              <a:rPr lang="it-IT" dirty="0"/>
              <a:t> Esporre e promuovere i best seller ovunque: homepage, email, social;</a:t>
            </a:r>
          </a:p>
          <a:p>
            <a:r>
              <a:rPr lang="it-IT" dirty="0"/>
              <a:t>Analizzare le cause dell’ insuccesso di determinati prodotti e pianificare una strategia commerciale riguardo a essi;</a:t>
            </a:r>
          </a:p>
          <a:p>
            <a:r>
              <a:rPr lang="it-IT" dirty="0"/>
              <a:t> Monitorare gli stati degli ordini e ridurre i resi con descrizioni più precise e migliorare il servizio clienti;</a:t>
            </a:r>
          </a:p>
          <a:p>
            <a:r>
              <a:rPr lang="it-IT" dirty="0"/>
              <a:t> Alleggerire l’inventario liberandosi dei prodotti non performanti;</a:t>
            </a:r>
          </a:p>
        </p:txBody>
      </p:sp>
    </p:spTree>
    <p:extLst>
      <p:ext uri="{BB962C8B-B14F-4D97-AF65-F5344CB8AC3E}">
        <p14:creationId xmlns:p14="http://schemas.microsoft.com/office/powerpoint/2010/main" val="42208849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1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B57D6000-11F4-48A5-805D-0566F4FB32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21640" b="22110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D4E6C0D2-722F-40D2-935C-EBE6CC3BF7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859" y="2466362"/>
            <a:ext cx="9325218" cy="1702965"/>
          </a:xfrm>
        </p:spPr>
        <p:txBody>
          <a:bodyPr>
            <a:normAutofit/>
          </a:bodyPr>
          <a:lstStyle/>
          <a:p>
            <a:r>
              <a:rPr lang="it-IT" sz="5400" dirty="0">
                <a:solidFill>
                  <a:srgbClr val="FFFFFF"/>
                </a:solidFill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3883393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486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Neue Haas Grotesk Text Pro</vt:lpstr>
      <vt:lpstr>Segoe UI</vt:lpstr>
      <vt:lpstr>VanillaVTI</vt:lpstr>
      <vt:lpstr>FINAL PROJECT </vt:lpstr>
      <vt:lpstr>Pulizia dei dati, normalizzazione e ordinamento</vt:lpstr>
      <vt:lpstr>Traffico Utenti fedeli</vt:lpstr>
      <vt:lpstr>Paesi con più acquirenti</vt:lpstr>
      <vt:lpstr>Numero di Utenti per fascia d’età e genere</vt:lpstr>
      <vt:lpstr>Report ordini negli anni</vt:lpstr>
      <vt:lpstr>Presentazione standard di PowerPoint</vt:lpstr>
      <vt:lpstr>Strategie di crescita</vt:lpstr>
      <vt:lpstr>GRAZIE PER L’ATTENZIONE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</dc:title>
  <dc:creator>EDUARD GOLOGAN</dc:creator>
  <cp:lastModifiedBy>EDUARD GOLOGAN</cp:lastModifiedBy>
  <cp:revision>22</cp:revision>
  <dcterms:created xsi:type="dcterms:W3CDTF">2025-07-02T08:45:56Z</dcterms:created>
  <dcterms:modified xsi:type="dcterms:W3CDTF">2025-07-03T20:18:30Z</dcterms:modified>
</cp:coreProperties>
</file>